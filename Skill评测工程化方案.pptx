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1521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评测工程化方案 —— 从「无评测」到「容器化闭环评测」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21665"/>
            <a:ext cx="11612880" cy="1391285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21665"/>
            <a:ext cx="76200" cy="1391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背景：当前现状与问题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当前现状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36576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创建全靠手工经验，写完即交付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无评测环节：不知道 Skill 是否真的让 Agent 表现更好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无对照基线：with_skill vs baseline 对比完全缺失</a:t>
            </a:r>
            <a:endParaRPr lang="en-US" sz="900" dirty="0"/>
          </a:p>
          <a:p>
            <a:pPr marL="342900" indent="-3429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迭代靠感觉：用户反馈 → 手动改 → 再凭直觉判断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987552"/>
            <a:ext cx="0" cy="1188720"/>
          </a:xfrm>
          <a:prstGeom prst="line">
            <a:avLst/>
          </a:prstGeom>
          <a:noFill/>
          <a:ln w="9525">
            <a:solidFill>
              <a:srgbClr val="CCCC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663440" y="77089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面临的核心问题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063498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41097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质量验证覆盖率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1063498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141097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可复现评测用例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1063498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N/A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772400" y="141097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触发精度指标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509760" y="77089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770890"/>
            <a:ext cx="22402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84404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核心痛点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0" y="1081786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创建 = 手艺活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缺少「写完→测试→改进→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验证」的工程化闭环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112137"/>
            <a:ext cx="7132320" cy="42245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112137"/>
            <a:ext cx="713232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203577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 A vs 方案 B 流程对比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569337"/>
            <a:ext cx="3108960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587625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 A：Skill Creator 原始流程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935097"/>
            <a:ext cx="2926080" cy="365760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2935097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2953385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意图捕获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3232" y="3154553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意图/场景/格式分析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74520" y="3282569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" y="3337433"/>
            <a:ext cx="2926080" cy="365760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337433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355721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草稿生成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" y="3556889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SKILL.md + evals.json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874520" y="3684905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" y="3739769"/>
            <a:ext cx="2926080" cy="365760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3739769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3758057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本地Eval运行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" y="3959225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Spawn子Agent · 无隔离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874520" y="4087241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" y="4142105"/>
            <a:ext cx="2926080" cy="365760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142105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4160393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评估聚合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" y="4361561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Grader→Benchmark→Analyzer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874520" y="4489577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8640" y="4544441"/>
            <a:ext cx="2926080" cy="365760"/>
          </a:xfrm>
          <a:prstGeom prst="rect">
            <a:avLst/>
          </a:prstGeom>
          <a:solidFill>
            <a:srgbClr val="FFF3E0"/>
          </a:solidFill>
          <a:ln w="9525">
            <a:solidFill>
              <a:srgbClr val="E651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4544441"/>
            <a:ext cx="54864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4562729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F36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人工审查+迭代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3232" y="4763897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feedback.json→改进SKILL.md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874520" y="4891913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8640" y="4946777"/>
            <a:ext cx="2926080" cy="365760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8640" y="4946777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" y="4965065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⑥ 描述优化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13232" y="5166233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20条候选·run_loop优化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874520" y="5294249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48640" y="5349113"/>
            <a:ext cx="2926080" cy="365760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" y="5349113"/>
            <a:ext cx="54864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" y="5367401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⑦ 打包交付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13232" y="5568569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package_skill→.skill包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794760" y="2569337"/>
            <a:ext cx="35204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86200" y="2587625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 B：Skill Creator + Harbor 集成流程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886200" y="2935097"/>
            <a:ext cx="3337560" cy="329184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86200" y="2935097"/>
            <a:ext cx="54864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50792" y="2944241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意图捕获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050792" y="3099689"/>
            <a:ext cx="3063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意图/场景/格式分析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17820" y="3255137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886200" y="3300857"/>
            <a:ext cx="3337560" cy="329184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886200" y="3300857"/>
            <a:ext cx="54864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50792" y="3310001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草稿生成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050792" y="3465449"/>
            <a:ext cx="3063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SKILL.md + evals.json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17820" y="3620897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886200" y="3666617"/>
            <a:ext cx="3337560" cy="329184"/>
          </a:xfrm>
          <a:prstGeom prst="rect">
            <a:avLst/>
          </a:prstGeom>
          <a:solidFill>
            <a:srgbClr val="F3E5F5"/>
          </a:solidFill>
          <a:ln w="9525">
            <a:solidFill>
              <a:srgbClr val="6A1B9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886200" y="3666617"/>
            <a:ext cx="54864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50792" y="3675761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14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★ 集成点A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050792" y="3831209"/>
            <a:ext cx="3063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evals.json → Harbor Task目录转换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17820" y="3986657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886200" y="4032377"/>
            <a:ext cx="3337560" cy="329184"/>
          </a:xfrm>
          <a:prstGeom prst="rect">
            <a:avLst/>
          </a:prstGeom>
          <a:solidFill>
            <a:srgbClr val="E3F2FD"/>
          </a:solidFill>
          <a:ln w="9525">
            <a:solidFill>
              <a:srgbClr val="1565C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886200" y="4032377"/>
            <a:ext cx="54864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050792" y="4041521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47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Harbor容器化评测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050792" y="4196969"/>
            <a:ext cx="3063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Docker隔离 · with_skill vs baseline并行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417820" y="4352417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886200" y="4398137"/>
            <a:ext cx="3337560" cy="329184"/>
          </a:xfrm>
          <a:prstGeom prst="rect">
            <a:avLst/>
          </a:prstGeom>
          <a:solidFill>
            <a:srgbClr val="F3E5F5"/>
          </a:solidFill>
          <a:ln w="9525">
            <a:solidFill>
              <a:srgbClr val="6A1B9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86200" y="4398137"/>
            <a:ext cx="54864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050792" y="4407281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14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★ 集成点B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050792" y="4562729"/>
            <a:ext cx="3063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Harbor输出→reward/trajectory/result聚合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417820" y="4718177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3886200" y="4763897"/>
            <a:ext cx="3337560" cy="329184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886200" y="4763897"/>
            <a:ext cx="54864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050792" y="4773041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评估聚合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050792" y="4928489"/>
            <a:ext cx="3063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Grader(reward.txt)→Benchmark→Analyzer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417820" y="5083937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886200" y="5129657"/>
            <a:ext cx="3337560" cy="329184"/>
          </a:xfrm>
          <a:prstGeom prst="rect">
            <a:avLst/>
          </a:prstGeom>
          <a:solidFill>
            <a:srgbClr val="E3F2FD"/>
          </a:solidFill>
          <a:ln w="9525">
            <a:solidFill>
              <a:srgbClr val="1565C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886200" y="5129657"/>
            <a:ext cx="54864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050792" y="5138801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47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⑤⑥ 迭代+描述优化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4050792" y="5294249"/>
            <a:ext cx="3063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Harbor重运行(--force-build) · 批量评测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417820" y="5449697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</a:rPr>
              <a:t>▼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886200" y="5495417"/>
            <a:ext cx="3337560" cy="329184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86200" y="5495417"/>
            <a:ext cx="54864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050792" y="5504561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⑦ 打包交付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4050792" y="5660009"/>
            <a:ext cx="3063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package_skill→.skill包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548640" y="5998337"/>
            <a:ext cx="228600" cy="164592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22960" y="5980049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Agent步骤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2286000" y="5998337"/>
            <a:ext cx="228600" cy="164592"/>
          </a:xfrm>
          <a:prstGeom prst="rect">
            <a:avLst/>
          </a:prstGeom>
          <a:solidFill>
            <a:srgbClr val="E3F2FD"/>
          </a:solidFill>
          <a:ln w="9525">
            <a:solidFill>
              <a:srgbClr val="1565C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560320" y="5980049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Harbor引擎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4023360" y="5998337"/>
            <a:ext cx="228600" cy="164592"/>
          </a:xfrm>
          <a:prstGeom prst="rect">
            <a:avLst/>
          </a:prstGeom>
          <a:solidFill>
            <a:srgbClr val="F3E5F5"/>
          </a:solidFill>
          <a:ln w="9525">
            <a:solidFill>
              <a:srgbClr val="6A1B9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297680" y="5980049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集成/转换点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5760720" y="5998337"/>
            <a:ext cx="228600" cy="164592"/>
          </a:xfrm>
          <a:prstGeom prst="rect">
            <a:avLst/>
          </a:prstGeom>
          <a:solidFill>
            <a:srgbClr val="FFF3E0"/>
          </a:solidFill>
          <a:ln w="9525">
            <a:solidFill>
              <a:srgbClr val="E651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035040" y="5980049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人工介入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7589520" y="2112137"/>
            <a:ext cx="4297680" cy="42245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589520" y="2112137"/>
            <a:ext cx="42976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726680" y="2203577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方案对比总结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7726680" y="2523617"/>
            <a:ext cx="4023360" cy="1828800"/>
          </a:xfrm>
          <a:prstGeom prst="rect">
            <a:avLst/>
          </a:prstGeom>
          <a:solidFill>
            <a:srgbClr val="FFF8F0"/>
          </a:solidFill>
          <a:ln w="9525">
            <a:solidFill>
              <a:srgbClr val="E651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726680" y="2523617"/>
            <a:ext cx="4023360" cy="3657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818120" y="2615057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 A：原始 Skill Creator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7818120" y="2852801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7818120" y="3017393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流程简单，无外部依赖</a:t>
            </a:r>
            <a:endParaRPr lang="en-US" sz="800" dirty="0"/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本地运行，启动快速</a:t>
            </a:r>
            <a:endParaRPr lang="en-US" sz="800" dirty="0"/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适合简单模板型 Skill 的 POC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7818120" y="3547745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缺点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7818120" y="3712337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无环境隔离 — with_skill/baseline 可能互相干扰</a:t>
            </a:r>
            <a:endParaRPr lang="en-US" sz="800" dirty="0"/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不可复现 — 本地环境差异导致结果不一致</a:t>
            </a:r>
            <a:endParaRPr lang="en-US" sz="800" dirty="0"/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无资源限制 — Agent死循环无超时熔断</a:t>
            </a:r>
            <a:endParaRPr lang="en-US" sz="800" dirty="0"/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需自建打分和输出格式 — 维护成本高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7726680" y="4398137"/>
            <a:ext cx="4023360" cy="1920240"/>
          </a:xfrm>
          <a:prstGeom prst="rect">
            <a:avLst/>
          </a:prstGeom>
          <a:solidFill>
            <a:srgbClr val="F0F7FF"/>
          </a:solidFill>
          <a:ln w="9525">
            <a:solidFill>
              <a:srgbClr val="1565C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726680" y="4398137"/>
            <a:ext cx="402336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818120" y="4489577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 B：Skill Creator + Harbor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7818120" y="4727321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7818120" y="4891913"/>
            <a:ext cx="384048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容器化隔离 — 每个 Eval 独立运行，互不干扰</a:t>
            </a:r>
            <a:endParaRPr lang="en-US" sz="800" dirty="0"/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可复现 — Dockerfile固定环境+依赖，换机器结果一致</a:t>
            </a:r>
            <a:endParaRPr lang="en-US" sz="800" dirty="0"/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超时/资源控制 — task.toml 配置 CPU、内存、超时</a:t>
            </a:r>
            <a:endParaRPr lang="en-US" sz="800" dirty="0"/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Verifier 标准协议 — test.sh→reward.txt 自动打分</a:t>
            </a:r>
            <a:endParaRPr lang="en-US" sz="800" dirty="0"/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结构化输出 — trajectory/result/reward 标准路径</a:t>
            </a:r>
            <a:endParaRPr lang="en-US" sz="800" dirty="0"/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并行执行 — n_concurrent_trials 加速批量评测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7818120" y="5696585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缺点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7818120" y="5842889"/>
            <a:ext cx="3840480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需部署 Harbor + Docker 基础设施</a:t>
            </a:r>
            <a:endParaRPr lang="en-US" sz="800" dirty="0"/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evals→Task 目录协议转换增加集成复杂度</a:t>
            </a:r>
            <a:endParaRPr lang="en-US" sz="800" dirty="0"/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单轮评测耗时较长（容器启动+Agent执行）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274320" y="6354953"/>
            <a:ext cx="11612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20040" y="6479413"/>
            <a:ext cx="115214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</a:t>
            </a:r>
            <a:r>
              <a:rPr lang="en-US" sz="1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Harbor 为 Skill Creator 提供「容器化 · 可复现 · 可观测 · 可并行」的评测执行基础设施，将 Skill 质量保障从「手艺活」升级为「工程流程」</a:t>
            </a:r>
            <a:endParaRPr lang="en-US" sz="1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1356</Words>
  <Application>WPS 演示</Application>
  <PresentationFormat>On-screen Show (16:9)</PresentationFormat>
  <Paragraphs>167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评测工程化方案</dc:title>
  <dc:creator>Jasmine</dc:creator>
  <dc:subject>PptxGenJS Presentation</dc:subject>
  <cp:lastModifiedBy>赵慧娟</cp:lastModifiedBy>
  <cp:revision>2</cp:revision>
  <dcterms:created xsi:type="dcterms:W3CDTF">2026-03-19T11:46:00Z</dcterms:created>
  <dcterms:modified xsi:type="dcterms:W3CDTF">2026-03-19T11:53:05Z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D7E17A22D1164FE1AB2FE9FBEE1FAF9A_12</vt:lpwstr>
  </property>
</Properties>
</file>